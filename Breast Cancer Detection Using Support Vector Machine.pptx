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73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391DC1-2D3F-490F-8CAB-EE647C0D1BF1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0D327294-6244-4612-A8E3-BBB32495C514}">
      <dgm:prSet phldrT="[Text]"/>
      <dgm:spPr/>
      <dgm:t>
        <a:bodyPr/>
        <a:lstStyle/>
        <a:p>
          <a:r>
            <a:rPr lang="en-US" dirty="0"/>
            <a:t>EDA and Data Pre-processing</a:t>
          </a:r>
          <a:endParaRPr lang="en-IN" dirty="0"/>
        </a:p>
      </dgm:t>
    </dgm:pt>
    <dgm:pt modelId="{F5796F84-E80A-4106-A359-5D7C680E4819}" type="parTrans" cxnId="{6F461DC8-361E-4827-A09E-8B4A485A5ED0}">
      <dgm:prSet/>
      <dgm:spPr/>
      <dgm:t>
        <a:bodyPr/>
        <a:lstStyle/>
        <a:p>
          <a:endParaRPr lang="en-IN"/>
        </a:p>
      </dgm:t>
    </dgm:pt>
    <dgm:pt modelId="{F2ED1FF8-609A-43AD-B2A8-2F5B76012BA6}" type="sibTrans" cxnId="{6F461DC8-361E-4827-A09E-8B4A485A5ED0}">
      <dgm:prSet/>
      <dgm:spPr/>
      <dgm:t>
        <a:bodyPr/>
        <a:lstStyle/>
        <a:p>
          <a:endParaRPr lang="en-IN"/>
        </a:p>
      </dgm:t>
    </dgm:pt>
    <dgm:pt modelId="{A3F6F8AB-A927-4B39-9C75-8ADFF91DBD8D}">
      <dgm:prSet phldrT="[Text]"/>
      <dgm:spPr/>
      <dgm:t>
        <a:bodyPr/>
        <a:lstStyle/>
        <a:p>
          <a:r>
            <a:rPr lang="en-US" dirty="0"/>
            <a:t>Model Selection and Training</a:t>
          </a:r>
          <a:endParaRPr lang="en-IN" dirty="0"/>
        </a:p>
      </dgm:t>
    </dgm:pt>
    <dgm:pt modelId="{3C736E5C-AB76-4CF2-A2CA-AA35565CCDAB}" type="sibTrans" cxnId="{286CDC12-BE1F-4329-9689-82CBAF321FDE}">
      <dgm:prSet/>
      <dgm:spPr/>
      <dgm:t>
        <a:bodyPr/>
        <a:lstStyle/>
        <a:p>
          <a:endParaRPr lang="en-IN"/>
        </a:p>
      </dgm:t>
    </dgm:pt>
    <dgm:pt modelId="{B9F1E3DA-D0AB-497F-842E-439D6CDB7DE2}" type="parTrans" cxnId="{286CDC12-BE1F-4329-9689-82CBAF321FDE}">
      <dgm:prSet/>
      <dgm:spPr/>
      <dgm:t>
        <a:bodyPr/>
        <a:lstStyle/>
        <a:p>
          <a:endParaRPr lang="en-IN"/>
        </a:p>
      </dgm:t>
    </dgm:pt>
    <dgm:pt modelId="{A3CC818D-FC77-411E-89B7-BB467C519F61}">
      <dgm:prSet phldrT="[Text]"/>
      <dgm:spPr/>
      <dgm:t>
        <a:bodyPr/>
        <a:lstStyle/>
        <a:p>
          <a:r>
            <a:rPr lang="en-US" dirty="0"/>
            <a:t>Model Evaluation</a:t>
          </a:r>
          <a:endParaRPr lang="en-IN" dirty="0"/>
        </a:p>
      </dgm:t>
    </dgm:pt>
    <dgm:pt modelId="{4FFC198D-298A-4EF8-84B3-E75F2AC68405}" type="sibTrans" cxnId="{797D42D1-CD54-4EA0-B3A6-514734E49D9B}">
      <dgm:prSet/>
      <dgm:spPr/>
      <dgm:t>
        <a:bodyPr/>
        <a:lstStyle/>
        <a:p>
          <a:endParaRPr lang="en-IN"/>
        </a:p>
      </dgm:t>
    </dgm:pt>
    <dgm:pt modelId="{4D365F7A-68D5-41EA-BD18-8604BCB39744}" type="parTrans" cxnId="{797D42D1-CD54-4EA0-B3A6-514734E49D9B}">
      <dgm:prSet/>
      <dgm:spPr/>
      <dgm:t>
        <a:bodyPr/>
        <a:lstStyle/>
        <a:p>
          <a:endParaRPr lang="en-IN"/>
        </a:p>
      </dgm:t>
    </dgm:pt>
    <dgm:pt modelId="{01434221-9E9F-4823-B6AE-AA34F21E3E0F}">
      <dgm:prSet phldrT="[Text]"/>
      <dgm:spPr/>
      <dgm:t>
        <a:bodyPr/>
        <a:lstStyle/>
        <a:p>
          <a:r>
            <a:rPr lang="en-US" dirty="0"/>
            <a:t>Interpretation</a:t>
          </a:r>
          <a:endParaRPr lang="en-IN" dirty="0"/>
        </a:p>
      </dgm:t>
    </dgm:pt>
    <dgm:pt modelId="{83D351A4-FFEC-4F0C-9561-AAEA7E4306D6}" type="sibTrans" cxnId="{730D1602-FA2D-4FC6-9C08-FB54DBA83C7B}">
      <dgm:prSet/>
      <dgm:spPr/>
      <dgm:t>
        <a:bodyPr/>
        <a:lstStyle/>
        <a:p>
          <a:endParaRPr lang="en-IN"/>
        </a:p>
      </dgm:t>
    </dgm:pt>
    <dgm:pt modelId="{D4F15E98-DDE5-4271-981E-65C5B1E8A518}" type="parTrans" cxnId="{730D1602-FA2D-4FC6-9C08-FB54DBA83C7B}">
      <dgm:prSet/>
      <dgm:spPr/>
      <dgm:t>
        <a:bodyPr/>
        <a:lstStyle/>
        <a:p>
          <a:endParaRPr lang="en-IN"/>
        </a:p>
      </dgm:t>
    </dgm:pt>
    <dgm:pt modelId="{E1A05ECA-7E58-479F-AC45-0B0DA4129C9F}" type="pres">
      <dgm:prSet presAssocID="{E9391DC1-2D3F-490F-8CAB-EE647C0D1BF1}" presName="Name0" presStyleCnt="0">
        <dgm:presLayoutVars>
          <dgm:dir/>
          <dgm:animLvl val="lvl"/>
          <dgm:resizeHandles val="exact"/>
        </dgm:presLayoutVars>
      </dgm:prSet>
      <dgm:spPr/>
    </dgm:pt>
    <dgm:pt modelId="{86BE6128-A249-422B-B64D-E1CB4749FD1A}" type="pres">
      <dgm:prSet presAssocID="{0D327294-6244-4612-A8E3-BBB32495C514}" presName="parTxOnly" presStyleLbl="node1" presStyleIdx="0" presStyleCnt="4" custScaleX="244114" custLinFactNeighborX="-31532" custLinFactNeighborY="64">
        <dgm:presLayoutVars>
          <dgm:chMax val="0"/>
          <dgm:chPref val="0"/>
          <dgm:bulletEnabled val="1"/>
        </dgm:presLayoutVars>
      </dgm:prSet>
      <dgm:spPr/>
    </dgm:pt>
    <dgm:pt modelId="{CB451D76-0553-4454-98C6-E5C3A00D20CB}" type="pres">
      <dgm:prSet presAssocID="{F2ED1FF8-609A-43AD-B2A8-2F5B76012BA6}" presName="parTxOnlySpace" presStyleCnt="0"/>
      <dgm:spPr/>
    </dgm:pt>
    <dgm:pt modelId="{44D9A039-6955-4453-8762-196E290754C4}" type="pres">
      <dgm:prSet presAssocID="{A3F6F8AB-A927-4B39-9C75-8ADFF91DBD8D}" presName="parTxOnly" presStyleLbl="node1" presStyleIdx="1" presStyleCnt="4" custScaleX="252924" custLinFactNeighborX="-98635" custLinFactNeighborY="-910">
        <dgm:presLayoutVars>
          <dgm:chMax val="0"/>
          <dgm:chPref val="0"/>
          <dgm:bulletEnabled val="1"/>
        </dgm:presLayoutVars>
      </dgm:prSet>
      <dgm:spPr/>
    </dgm:pt>
    <dgm:pt modelId="{18773814-B207-442C-8FA8-D76512D15464}" type="pres">
      <dgm:prSet presAssocID="{3C736E5C-AB76-4CF2-A2CA-AA35565CCDAB}" presName="parTxOnlySpace" presStyleCnt="0"/>
      <dgm:spPr/>
    </dgm:pt>
    <dgm:pt modelId="{E0FC2AB0-1726-4D7D-9AD2-51E700312533}" type="pres">
      <dgm:prSet presAssocID="{A3CC818D-FC77-411E-89B7-BB467C519F61}" presName="parTxOnly" presStyleLbl="node1" presStyleIdx="2" presStyleCnt="4" custScaleX="170778" custLinFactX="-10137" custLinFactNeighborX="-100000">
        <dgm:presLayoutVars>
          <dgm:chMax val="0"/>
          <dgm:chPref val="0"/>
          <dgm:bulletEnabled val="1"/>
        </dgm:presLayoutVars>
      </dgm:prSet>
      <dgm:spPr/>
    </dgm:pt>
    <dgm:pt modelId="{792F1DC0-818C-49E2-9511-9E77CCC2656A}" type="pres">
      <dgm:prSet presAssocID="{4FFC198D-298A-4EF8-84B3-E75F2AC68405}" presName="parTxOnlySpace" presStyleCnt="0"/>
      <dgm:spPr/>
    </dgm:pt>
    <dgm:pt modelId="{46D5A2C5-B1E4-487A-8C8D-F2A336154EB8}" type="pres">
      <dgm:prSet presAssocID="{01434221-9E9F-4823-B6AE-AA34F21E3E0F}" presName="parTxOnly" presStyleLbl="node1" presStyleIdx="3" presStyleCnt="4" custScaleX="143202" custLinFactX="-19851" custLinFactNeighborX="-100000" custLinFactNeighborY="-902">
        <dgm:presLayoutVars>
          <dgm:chMax val="0"/>
          <dgm:chPref val="0"/>
          <dgm:bulletEnabled val="1"/>
        </dgm:presLayoutVars>
      </dgm:prSet>
      <dgm:spPr/>
    </dgm:pt>
  </dgm:ptLst>
  <dgm:cxnLst>
    <dgm:cxn modelId="{730D1602-FA2D-4FC6-9C08-FB54DBA83C7B}" srcId="{E9391DC1-2D3F-490F-8CAB-EE647C0D1BF1}" destId="{01434221-9E9F-4823-B6AE-AA34F21E3E0F}" srcOrd="3" destOrd="0" parTransId="{D4F15E98-DDE5-4271-981E-65C5B1E8A518}" sibTransId="{83D351A4-FFEC-4F0C-9561-AAEA7E4306D6}"/>
    <dgm:cxn modelId="{3593BC0B-4F43-40DB-9CC6-35669D03D3E2}" type="presOf" srcId="{A3F6F8AB-A927-4B39-9C75-8ADFF91DBD8D}" destId="{44D9A039-6955-4453-8762-196E290754C4}" srcOrd="0" destOrd="0" presId="urn:microsoft.com/office/officeart/2005/8/layout/chevron1"/>
    <dgm:cxn modelId="{286CDC12-BE1F-4329-9689-82CBAF321FDE}" srcId="{E9391DC1-2D3F-490F-8CAB-EE647C0D1BF1}" destId="{A3F6F8AB-A927-4B39-9C75-8ADFF91DBD8D}" srcOrd="1" destOrd="0" parTransId="{B9F1E3DA-D0AB-497F-842E-439D6CDB7DE2}" sibTransId="{3C736E5C-AB76-4CF2-A2CA-AA35565CCDAB}"/>
    <dgm:cxn modelId="{A9B45D3C-6BDD-4983-9764-E089E3DB50F7}" type="presOf" srcId="{0D327294-6244-4612-A8E3-BBB32495C514}" destId="{86BE6128-A249-422B-B64D-E1CB4749FD1A}" srcOrd="0" destOrd="0" presId="urn:microsoft.com/office/officeart/2005/8/layout/chevron1"/>
    <dgm:cxn modelId="{6529BBC5-EA2F-411F-A1CD-6B4D8A0744B8}" type="presOf" srcId="{01434221-9E9F-4823-B6AE-AA34F21E3E0F}" destId="{46D5A2C5-B1E4-487A-8C8D-F2A336154EB8}" srcOrd="0" destOrd="0" presId="urn:microsoft.com/office/officeart/2005/8/layout/chevron1"/>
    <dgm:cxn modelId="{6F461DC8-361E-4827-A09E-8B4A485A5ED0}" srcId="{E9391DC1-2D3F-490F-8CAB-EE647C0D1BF1}" destId="{0D327294-6244-4612-A8E3-BBB32495C514}" srcOrd="0" destOrd="0" parTransId="{F5796F84-E80A-4106-A359-5D7C680E4819}" sibTransId="{F2ED1FF8-609A-43AD-B2A8-2F5B76012BA6}"/>
    <dgm:cxn modelId="{797D42D1-CD54-4EA0-B3A6-514734E49D9B}" srcId="{E9391DC1-2D3F-490F-8CAB-EE647C0D1BF1}" destId="{A3CC818D-FC77-411E-89B7-BB467C519F61}" srcOrd="2" destOrd="0" parTransId="{4D365F7A-68D5-41EA-BD18-8604BCB39744}" sibTransId="{4FFC198D-298A-4EF8-84B3-E75F2AC68405}"/>
    <dgm:cxn modelId="{0D4773D8-0EBD-420E-9465-1D23368FBB37}" type="presOf" srcId="{A3CC818D-FC77-411E-89B7-BB467C519F61}" destId="{E0FC2AB0-1726-4D7D-9AD2-51E700312533}" srcOrd="0" destOrd="0" presId="urn:microsoft.com/office/officeart/2005/8/layout/chevron1"/>
    <dgm:cxn modelId="{B20E9FFD-E42E-4337-B31D-2A056E693030}" type="presOf" srcId="{E9391DC1-2D3F-490F-8CAB-EE647C0D1BF1}" destId="{E1A05ECA-7E58-479F-AC45-0B0DA4129C9F}" srcOrd="0" destOrd="0" presId="urn:microsoft.com/office/officeart/2005/8/layout/chevron1"/>
    <dgm:cxn modelId="{5016AEEC-8EF5-43C9-AA1C-2094E51E8549}" type="presParOf" srcId="{E1A05ECA-7E58-479F-AC45-0B0DA4129C9F}" destId="{86BE6128-A249-422B-B64D-E1CB4749FD1A}" srcOrd="0" destOrd="0" presId="urn:microsoft.com/office/officeart/2005/8/layout/chevron1"/>
    <dgm:cxn modelId="{D657070D-451F-4E2B-BE2B-F8DC30BFD84E}" type="presParOf" srcId="{E1A05ECA-7E58-479F-AC45-0B0DA4129C9F}" destId="{CB451D76-0553-4454-98C6-E5C3A00D20CB}" srcOrd="1" destOrd="0" presId="urn:microsoft.com/office/officeart/2005/8/layout/chevron1"/>
    <dgm:cxn modelId="{F340E6F7-E02F-4D90-BFE6-F61314677F1B}" type="presParOf" srcId="{E1A05ECA-7E58-479F-AC45-0B0DA4129C9F}" destId="{44D9A039-6955-4453-8762-196E290754C4}" srcOrd="2" destOrd="0" presId="urn:microsoft.com/office/officeart/2005/8/layout/chevron1"/>
    <dgm:cxn modelId="{79707574-6BDB-4296-B486-6377CEEB7E4D}" type="presParOf" srcId="{E1A05ECA-7E58-479F-AC45-0B0DA4129C9F}" destId="{18773814-B207-442C-8FA8-D76512D15464}" srcOrd="3" destOrd="0" presId="urn:microsoft.com/office/officeart/2005/8/layout/chevron1"/>
    <dgm:cxn modelId="{AA6338C7-6E21-40A4-9194-D5D1B24AFFB2}" type="presParOf" srcId="{E1A05ECA-7E58-479F-AC45-0B0DA4129C9F}" destId="{E0FC2AB0-1726-4D7D-9AD2-51E700312533}" srcOrd="4" destOrd="0" presId="urn:microsoft.com/office/officeart/2005/8/layout/chevron1"/>
    <dgm:cxn modelId="{3E2C337C-22CC-4A86-A2AD-630F1B465C40}" type="presParOf" srcId="{E1A05ECA-7E58-479F-AC45-0B0DA4129C9F}" destId="{792F1DC0-818C-49E2-9511-9E77CCC2656A}" srcOrd="5" destOrd="0" presId="urn:microsoft.com/office/officeart/2005/8/layout/chevron1"/>
    <dgm:cxn modelId="{1B02C813-DE35-4B6F-B7BA-CDAE12A5AABD}" type="presParOf" srcId="{E1A05ECA-7E58-479F-AC45-0B0DA4129C9F}" destId="{46D5A2C5-B1E4-487A-8C8D-F2A336154EB8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391DC1-2D3F-490F-8CAB-EE647C0D1BF1}" type="doc">
      <dgm:prSet loTypeId="urn:microsoft.com/office/officeart/2005/8/layout/hChevron3" loCatId="process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0D327294-6244-4612-A8E3-BBB32495C514}">
      <dgm:prSet phldrT="[Text]" custT="1"/>
      <dgm:spPr/>
      <dgm:t>
        <a:bodyPr/>
        <a:lstStyle/>
        <a:p>
          <a:pPr algn="l"/>
          <a:r>
            <a:rPr lang="en-US" sz="1400" dirty="0"/>
            <a:t>Described the data set</a:t>
          </a:r>
          <a:endParaRPr lang="en-IN" sz="1400" dirty="0"/>
        </a:p>
      </dgm:t>
    </dgm:pt>
    <dgm:pt modelId="{F5796F84-E80A-4106-A359-5D7C680E4819}" type="parTrans" cxnId="{6F461DC8-361E-4827-A09E-8B4A485A5ED0}">
      <dgm:prSet/>
      <dgm:spPr/>
      <dgm:t>
        <a:bodyPr/>
        <a:lstStyle/>
        <a:p>
          <a:endParaRPr lang="en-IN" sz="1400"/>
        </a:p>
      </dgm:t>
    </dgm:pt>
    <dgm:pt modelId="{F2ED1FF8-609A-43AD-B2A8-2F5B76012BA6}" type="sibTrans" cxnId="{6F461DC8-361E-4827-A09E-8B4A485A5ED0}">
      <dgm:prSet/>
      <dgm:spPr/>
      <dgm:t>
        <a:bodyPr/>
        <a:lstStyle/>
        <a:p>
          <a:endParaRPr lang="en-IN" sz="1400"/>
        </a:p>
      </dgm:t>
    </dgm:pt>
    <dgm:pt modelId="{A3F6F8AB-A927-4B39-9C75-8ADFF91DBD8D}">
      <dgm:prSet phldrT="[Text]" custT="1"/>
      <dgm:spPr/>
      <dgm:t>
        <a:bodyPr/>
        <a:lstStyle/>
        <a:p>
          <a:pPr algn="l"/>
          <a:r>
            <a:rPr lang="en-US" sz="1400" dirty="0"/>
            <a:t>Box plot to analyze outliers</a:t>
          </a:r>
          <a:endParaRPr lang="en-IN" sz="1400" dirty="0"/>
        </a:p>
      </dgm:t>
    </dgm:pt>
    <dgm:pt modelId="{3C736E5C-AB76-4CF2-A2CA-AA35565CCDAB}" type="sibTrans" cxnId="{286CDC12-BE1F-4329-9689-82CBAF321FDE}">
      <dgm:prSet/>
      <dgm:spPr/>
      <dgm:t>
        <a:bodyPr/>
        <a:lstStyle/>
        <a:p>
          <a:endParaRPr lang="en-IN" sz="1400"/>
        </a:p>
      </dgm:t>
    </dgm:pt>
    <dgm:pt modelId="{B9F1E3DA-D0AB-497F-842E-439D6CDB7DE2}" type="parTrans" cxnId="{286CDC12-BE1F-4329-9689-82CBAF321FDE}">
      <dgm:prSet/>
      <dgm:spPr/>
      <dgm:t>
        <a:bodyPr/>
        <a:lstStyle/>
        <a:p>
          <a:endParaRPr lang="en-IN" sz="1400"/>
        </a:p>
      </dgm:t>
    </dgm:pt>
    <dgm:pt modelId="{A3CC818D-FC77-411E-89B7-BB467C519F61}">
      <dgm:prSet phldrT="[Text]" custT="1"/>
      <dgm:spPr/>
      <dgm:t>
        <a:bodyPr/>
        <a:lstStyle/>
        <a:p>
          <a:pPr algn="l"/>
          <a:r>
            <a:rPr lang="en-US" sz="1400" dirty="0"/>
            <a:t>Scatter Plot and Heat Map</a:t>
          </a:r>
          <a:endParaRPr lang="en-IN" sz="1400" dirty="0"/>
        </a:p>
      </dgm:t>
    </dgm:pt>
    <dgm:pt modelId="{4FFC198D-298A-4EF8-84B3-E75F2AC68405}" type="sibTrans" cxnId="{797D42D1-CD54-4EA0-B3A6-514734E49D9B}">
      <dgm:prSet/>
      <dgm:spPr/>
      <dgm:t>
        <a:bodyPr/>
        <a:lstStyle/>
        <a:p>
          <a:endParaRPr lang="en-IN" sz="1400"/>
        </a:p>
      </dgm:t>
    </dgm:pt>
    <dgm:pt modelId="{4D365F7A-68D5-41EA-BD18-8604BCB39744}" type="parTrans" cxnId="{797D42D1-CD54-4EA0-B3A6-514734E49D9B}">
      <dgm:prSet/>
      <dgm:spPr/>
      <dgm:t>
        <a:bodyPr/>
        <a:lstStyle/>
        <a:p>
          <a:endParaRPr lang="en-IN" sz="1400"/>
        </a:p>
      </dgm:t>
    </dgm:pt>
    <dgm:pt modelId="{01434221-9E9F-4823-B6AE-AA34F21E3E0F}">
      <dgm:prSet phldrT="[Text]" custT="1"/>
      <dgm:spPr/>
      <dgm:t>
        <a:bodyPr/>
        <a:lstStyle/>
        <a:p>
          <a:r>
            <a:rPr lang="en-US" sz="1400" dirty="0"/>
            <a:t>Interpretation</a:t>
          </a:r>
          <a:endParaRPr lang="en-IN" sz="1400" dirty="0"/>
        </a:p>
      </dgm:t>
    </dgm:pt>
    <dgm:pt modelId="{83D351A4-FFEC-4F0C-9561-AAEA7E4306D6}" type="sibTrans" cxnId="{730D1602-FA2D-4FC6-9C08-FB54DBA83C7B}">
      <dgm:prSet/>
      <dgm:spPr/>
      <dgm:t>
        <a:bodyPr/>
        <a:lstStyle/>
        <a:p>
          <a:endParaRPr lang="en-IN" sz="1400"/>
        </a:p>
      </dgm:t>
    </dgm:pt>
    <dgm:pt modelId="{D4F15E98-DDE5-4271-981E-65C5B1E8A518}" type="parTrans" cxnId="{730D1602-FA2D-4FC6-9C08-FB54DBA83C7B}">
      <dgm:prSet/>
      <dgm:spPr/>
      <dgm:t>
        <a:bodyPr/>
        <a:lstStyle/>
        <a:p>
          <a:endParaRPr lang="en-IN" sz="1400"/>
        </a:p>
      </dgm:t>
    </dgm:pt>
    <dgm:pt modelId="{FF6F080A-3954-46B6-ACEC-F77BBCCDBA56}">
      <dgm:prSet phldrT="[Text]" custT="1"/>
      <dgm:spPr/>
      <dgm:t>
        <a:bodyPr/>
        <a:lstStyle/>
        <a:p>
          <a:pPr algn="l"/>
          <a:r>
            <a:rPr lang="en-IN" sz="1400" dirty="0"/>
            <a:t>PCA to visualize class separability</a:t>
          </a:r>
        </a:p>
      </dgm:t>
    </dgm:pt>
    <dgm:pt modelId="{81894D16-0BDD-4E32-BDC4-82F24623BBF2}" type="parTrans" cxnId="{4489A6EB-7205-46EB-AFB6-D2C18EFC8FCD}">
      <dgm:prSet/>
      <dgm:spPr/>
      <dgm:t>
        <a:bodyPr/>
        <a:lstStyle/>
        <a:p>
          <a:endParaRPr lang="en-IN"/>
        </a:p>
      </dgm:t>
    </dgm:pt>
    <dgm:pt modelId="{7599E6E8-9D07-46DC-A347-ABF404D00ADE}" type="sibTrans" cxnId="{4489A6EB-7205-46EB-AFB6-D2C18EFC8FCD}">
      <dgm:prSet/>
      <dgm:spPr/>
      <dgm:t>
        <a:bodyPr/>
        <a:lstStyle/>
        <a:p>
          <a:endParaRPr lang="en-IN"/>
        </a:p>
      </dgm:t>
    </dgm:pt>
    <dgm:pt modelId="{528A123F-838F-4018-96B0-3ABF2B36370C}" type="pres">
      <dgm:prSet presAssocID="{E9391DC1-2D3F-490F-8CAB-EE647C0D1BF1}" presName="Name0" presStyleCnt="0">
        <dgm:presLayoutVars>
          <dgm:dir/>
          <dgm:resizeHandles val="exact"/>
        </dgm:presLayoutVars>
      </dgm:prSet>
      <dgm:spPr/>
    </dgm:pt>
    <dgm:pt modelId="{6BEAA026-DC42-4B99-BA17-850A59E81227}" type="pres">
      <dgm:prSet presAssocID="{0D327294-6244-4612-A8E3-BBB32495C514}" presName="parTxOnly" presStyleLbl="node1" presStyleIdx="0" presStyleCnt="5" custScaleX="19173" custLinFactX="-19357" custLinFactNeighborX="-100000" custLinFactNeighborY="3354">
        <dgm:presLayoutVars>
          <dgm:bulletEnabled val="1"/>
        </dgm:presLayoutVars>
      </dgm:prSet>
      <dgm:spPr/>
    </dgm:pt>
    <dgm:pt modelId="{A5B90648-BCCA-48B1-ACF5-72239B81E024}" type="pres">
      <dgm:prSet presAssocID="{F2ED1FF8-609A-43AD-B2A8-2F5B76012BA6}" presName="parSpace" presStyleCnt="0"/>
      <dgm:spPr/>
    </dgm:pt>
    <dgm:pt modelId="{27228A52-7585-42A9-9547-15CC6A70A633}" type="pres">
      <dgm:prSet presAssocID="{A3F6F8AB-A927-4B39-9C75-8ADFF91DBD8D}" presName="parTxOnly" presStyleLbl="node1" presStyleIdx="1" presStyleCnt="5" custScaleX="23401" custLinFactNeighborX="-82523" custLinFactNeighborY="65">
        <dgm:presLayoutVars>
          <dgm:bulletEnabled val="1"/>
        </dgm:presLayoutVars>
      </dgm:prSet>
      <dgm:spPr/>
    </dgm:pt>
    <dgm:pt modelId="{037E2359-7DB7-4BA2-A9AA-35FD84B7CDDF}" type="pres">
      <dgm:prSet presAssocID="{3C736E5C-AB76-4CF2-A2CA-AA35565CCDAB}" presName="parSpace" presStyleCnt="0"/>
      <dgm:spPr/>
    </dgm:pt>
    <dgm:pt modelId="{8BACB4A8-18AA-47D3-A46E-C7846E6C512B}" type="pres">
      <dgm:prSet presAssocID="{A3CC818D-FC77-411E-89B7-BB467C519F61}" presName="parTxOnly" presStyleLbl="node1" presStyleIdx="2" presStyleCnt="5" custScaleX="24388" custLinFactNeighborX="6497">
        <dgm:presLayoutVars>
          <dgm:bulletEnabled val="1"/>
        </dgm:presLayoutVars>
      </dgm:prSet>
      <dgm:spPr/>
    </dgm:pt>
    <dgm:pt modelId="{819D7789-0075-41B4-9D9E-EB4759FE50EB}" type="pres">
      <dgm:prSet presAssocID="{4FFC198D-298A-4EF8-84B3-E75F2AC68405}" presName="parSpace" presStyleCnt="0"/>
      <dgm:spPr/>
    </dgm:pt>
    <dgm:pt modelId="{AAEACF6D-8E95-4BFE-930F-F4D0BAA4D77D}" type="pres">
      <dgm:prSet presAssocID="{FF6F080A-3954-46B6-ACEC-F77BBCCDBA56}" presName="parTxOnly" presStyleLbl="node1" presStyleIdx="3" presStyleCnt="5" custScaleX="27422" custLinFactNeighborX="96391" custLinFactNeighborY="-1388">
        <dgm:presLayoutVars>
          <dgm:bulletEnabled val="1"/>
        </dgm:presLayoutVars>
      </dgm:prSet>
      <dgm:spPr/>
    </dgm:pt>
    <dgm:pt modelId="{0074BBCE-BF71-45B9-954D-2A189DB21834}" type="pres">
      <dgm:prSet presAssocID="{7599E6E8-9D07-46DC-A347-ABF404D00ADE}" presName="parSpace" presStyleCnt="0"/>
      <dgm:spPr/>
    </dgm:pt>
    <dgm:pt modelId="{B99FDDD2-F0F6-4C42-A34D-1063A10E4440}" type="pres">
      <dgm:prSet presAssocID="{01434221-9E9F-4823-B6AE-AA34F21E3E0F}" presName="parTxOnly" presStyleLbl="node1" presStyleIdx="4" presStyleCnt="5" custScaleX="17636" custLinFactX="14807" custLinFactNeighborX="100000">
        <dgm:presLayoutVars>
          <dgm:bulletEnabled val="1"/>
        </dgm:presLayoutVars>
      </dgm:prSet>
      <dgm:spPr/>
    </dgm:pt>
  </dgm:ptLst>
  <dgm:cxnLst>
    <dgm:cxn modelId="{730D1602-FA2D-4FC6-9C08-FB54DBA83C7B}" srcId="{E9391DC1-2D3F-490F-8CAB-EE647C0D1BF1}" destId="{01434221-9E9F-4823-B6AE-AA34F21E3E0F}" srcOrd="4" destOrd="0" parTransId="{D4F15E98-DDE5-4271-981E-65C5B1E8A518}" sibTransId="{83D351A4-FFEC-4F0C-9561-AAEA7E4306D6}"/>
    <dgm:cxn modelId="{286CDC12-BE1F-4329-9689-82CBAF321FDE}" srcId="{E9391DC1-2D3F-490F-8CAB-EE647C0D1BF1}" destId="{A3F6F8AB-A927-4B39-9C75-8ADFF91DBD8D}" srcOrd="1" destOrd="0" parTransId="{B9F1E3DA-D0AB-497F-842E-439D6CDB7DE2}" sibTransId="{3C736E5C-AB76-4CF2-A2CA-AA35565CCDAB}"/>
    <dgm:cxn modelId="{7EB7D569-8E09-4A4E-AB86-6AC70EDB6FCC}" type="presOf" srcId="{01434221-9E9F-4823-B6AE-AA34F21E3E0F}" destId="{B99FDDD2-F0F6-4C42-A34D-1063A10E4440}" srcOrd="0" destOrd="0" presId="urn:microsoft.com/office/officeart/2005/8/layout/hChevron3"/>
    <dgm:cxn modelId="{681FA0BE-DFEB-479C-A742-73886A693C3C}" type="presOf" srcId="{A3F6F8AB-A927-4B39-9C75-8ADFF91DBD8D}" destId="{27228A52-7585-42A9-9547-15CC6A70A633}" srcOrd="0" destOrd="0" presId="urn:microsoft.com/office/officeart/2005/8/layout/hChevron3"/>
    <dgm:cxn modelId="{6F461DC8-361E-4827-A09E-8B4A485A5ED0}" srcId="{E9391DC1-2D3F-490F-8CAB-EE647C0D1BF1}" destId="{0D327294-6244-4612-A8E3-BBB32495C514}" srcOrd="0" destOrd="0" parTransId="{F5796F84-E80A-4106-A359-5D7C680E4819}" sibTransId="{F2ED1FF8-609A-43AD-B2A8-2F5B76012BA6}"/>
    <dgm:cxn modelId="{797D42D1-CD54-4EA0-B3A6-514734E49D9B}" srcId="{E9391DC1-2D3F-490F-8CAB-EE647C0D1BF1}" destId="{A3CC818D-FC77-411E-89B7-BB467C519F61}" srcOrd="2" destOrd="0" parTransId="{4D365F7A-68D5-41EA-BD18-8604BCB39744}" sibTransId="{4FFC198D-298A-4EF8-84B3-E75F2AC68405}"/>
    <dgm:cxn modelId="{164D8CE7-A82A-4657-85CF-47CCF5A84CE1}" type="presOf" srcId="{0D327294-6244-4612-A8E3-BBB32495C514}" destId="{6BEAA026-DC42-4B99-BA17-850A59E81227}" srcOrd="0" destOrd="0" presId="urn:microsoft.com/office/officeart/2005/8/layout/hChevron3"/>
    <dgm:cxn modelId="{4489A6EB-7205-46EB-AFB6-D2C18EFC8FCD}" srcId="{E9391DC1-2D3F-490F-8CAB-EE647C0D1BF1}" destId="{FF6F080A-3954-46B6-ACEC-F77BBCCDBA56}" srcOrd="3" destOrd="0" parTransId="{81894D16-0BDD-4E32-BDC4-82F24623BBF2}" sibTransId="{7599E6E8-9D07-46DC-A347-ABF404D00ADE}"/>
    <dgm:cxn modelId="{977D80ED-F384-47D7-88C7-D4049C3CA414}" type="presOf" srcId="{FF6F080A-3954-46B6-ACEC-F77BBCCDBA56}" destId="{AAEACF6D-8E95-4BFE-930F-F4D0BAA4D77D}" srcOrd="0" destOrd="0" presId="urn:microsoft.com/office/officeart/2005/8/layout/hChevron3"/>
    <dgm:cxn modelId="{4CFE37F1-224B-4B2E-B0F3-81A9FA13918A}" type="presOf" srcId="{E9391DC1-2D3F-490F-8CAB-EE647C0D1BF1}" destId="{528A123F-838F-4018-96B0-3ABF2B36370C}" srcOrd="0" destOrd="0" presId="urn:microsoft.com/office/officeart/2005/8/layout/hChevron3"/>
    <dgm:cxn modelId="{A1233FFA-51B8-4817-96F6-C8694594C631}" type="presOf" srcId="{A3CC818D-FC77-411E-89B7-BB467C519F61}" destId="{8BACB4A8-18AA-47D3-A46E-C7846E6C512B}" srcOrd="0" destOrd="0" presId="urn:microsoft.com/office/officeart/2005/8/layout/hChevron3"/>
    <dgm:cxn modelId="{692D3DF8-EB8B-41A5-ACD1-352B45E1EDDD}" type="presParOf" srcId="{528A123F-838F-4018-96B0-3ABF2B36370C}" destId="{6BEAA026-DC42-4B99-BA17-850A59E81227}" srcOrd="0" destOrd="0" presId="urn:microsoft.com/office/officeart/2005/8/layout/hChevron3"/>
    <dgm:cxn modelId="{712E266D-0A36-4F42-AC4A-603BC3954453}" type="presParOf" srcId="{528A123F-838F-4018-96B0-3ABF2B36370C}" destId="{A5B90648-BCCA-48B1-ACF5-72239B81E024}" srcOrd="1" destOrd="0" presId="urn:microsoft.com/office/officeart/2005/8/layout/hChevron3"/>
    <dgm:cxn modelId="{849AF931-80BE-4B84-9A06-78FC67A0881A}" type="presParOf" srcId="{528A123F-838F-4018-96B0-3ABF2B36370C}" destId="{27228A52-7585-42A9-9547-15CC6A70A633}" srcOrd="2" destOrd="0" presId="urn:microsoft.com/office/officeart/2005/8/layout/hChevron3"/>
    <dgm:cxn modelId="{A65C9D9B-8156-456B-AFC4-E2FE2DDC1664}" type="presParOf" srcId="{528A123F-838F-4018-96B0-3ABF2B36370C}" destId="{037E2359-7DB7-4BA2-A9AA-35FD84B7CDDF}" srcOrd="3" destOrd="0" presId="urn:microsoft.com/office/officeart/2005/8/layout/hChevron3"/>
    <dgm:cxn modelId="{DC54A044-EFC7-40ED-9CD1-0EB9FF4CEBC6}" type="presParOf" srcId="{528A123F-838F-4018-96B0-3ABF2B36370C}" destId="{8BACB4A8-18AA-47D3-A46E-C7846E6C512B}" srcOrd="4" destOrd="0" presId="urn:microsoft.com/office/officeart/2005/8/layout/hChevron3"/>
    <dgm:cxn modelId="{954D2013-D0FB-4C93-A928-DBAC4C53F110}" type="presParOf" srcId="{528A123F-838F-4018-96B0-3ABF2B36370C}" destId="{819D7789-0075-41B4-9D9E-EB4759FE50EB}" srcOrd="5" destOrd="0" presId="urn:microsoft.com/office/officeart/2005/8/layout/hChevron3"/>
    <dgm:cxn modelId="{D085B171-8DFE-4343-BF1C-7AEF839E5C1D}" type="presParOf" srcId="{528A123F-838F-4018-96B0-3ABF2B36370C}" destId="{AAEACF6D-8E95-4BFE-930F-F4D0BAA4D77D}" srcOrd="6" destOrd="0" presId="urn:microsoft.com/office/officeart/2005/8/layout/hChevron3"/>
    <dgm:cxn modelId="{A2EA7F86-A052-4441-8F3E-70FA3FC1D5C7}" type="presParOf" srcId="{528A123F-838F-4018-96B0-3ABF2B36370C}" destId="{0074BBCE-BF71-45B9-954D-2A189DB21834}" srcOrd="7" destOrd="0" presId="urn:microsoft.com/office/officeart/2005/8/layout/hChevron3"/>
    <dgm:cxn modelId="{89BA659D-BF27-4BE2-90A5-BFD596C4832B}" type="presParOf" srcId="{528A123F-838F-4018-96B0-3ABF2B36370C}" destId="{B99FDDD2-F0F6-4C42-A34D-1063A10E4440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E6128-A249-422B-B64D-E1CB4749FD1A}">
      <dsp:nvSpPr>
        <dsp:cNvPr id="0" name=""/>
        <dsp:cNvSpPr/>
      </dsp:nvSpPr>
      <dsp:spPr>
        <a:xfrm>
          <a:off x="0" y="18102"/>
          <a:ext cx="3495318" cy="57273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EDA and Data Pre-processing</a:t>
          </a:r>
          <a:endParaRPr lang="en-IN" sz="1800" kern="1200" dirty="0"/>
        </a:p>
      </dsp:txBody>
      <dsp:txXfrm>
        <a:off x="286368" y="18102"/>
        <a:ext cx="2922583" cy="572735"/>
      </dsp:txXfrm>
    </dsp:sp>
    <dsp:sp modelId="{44D9A039-6955-4453-8762-196E290754C4}">
      <dsp:nvSpPr>
        <dsp:cNvPr id="0" name=""/>
        <dsp:cNvSpPr/>
      </dsp:nvSpPr>
      <dsp:spPr>
        <a:xfrm>
          <a:off x="3215640" y="12524"/>
          <a:ext cx="3621463" cy="57273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Selection and Training</a:t>
          </a:r>
          <a:endParaRPr lang="en-IN" sz="1800" kern="1200" dirty="0"/>
        </a:p>
      </dsp:txBody>
      <dsp:txXfrm>
        <a:off x="3502008" y="12524"/>
        <a:ext cx="3048728" cy="572735"/>
      </dsp:txXfrm>
    </dsp:sp>
    <dsp:sp modelId="{E0FC2AB0-1726-4D7D-9AD2-51E700312533}">
      <dsp:nvSpPr>
        <dsp:cNvPr id="0" name=""/>
        <dsp:cNvSpPr/>
      </dsp:nvSpPr>
      <dsp:spPr>
        <a:xfrm>
          <a:off x="6546820" y="17736"/>
          <a:ext cx="2445265" cy="57273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 Evaluation</a:t>
          </a:r>
          <a:endParaRPr lang="en-IN" sz="1800" kern="1200" dirty="0"/>
        </a:p>
      </dsp:txBody>
      <dsp:txXfrm>
        <a:off x="6833188" y="17736"/>
        <a:ext cx="1872530" cy="572735"/>
      </dsp:txXfrm>
    </dsp:sp>
    <dsp:sp modelId="{46D5A2C5-B1E4-487A-8C8D-F2A336154EB8}">
      <dsp:nvSpPr>
        <dsp:cNvPr id="0" name=""/>
        <dsp:cNvSpPr/>
      </dsp:nvSpPr>
      <dsp:spPr>
        <a:xfrm>
          <a:off x="8709813" y="12570"/>
          <a:ext cx="2050421" cy="57273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Interpretation</a:t>
          </a:r>
          <a:endParaRPr lang="en-IN" sz="1800" kern="1200" dirty="0"/>
        </a:p>
      </dsp:txBody>
      <dsp:txXfrm>
        <a:off x="8996181" y="12570"/>
        <a:ext cx="1477686" cy="5727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EAA026-DC42-4B99-BA17-850A59E81227}">
      <dsp:nvSpPr>
        <dsp:cNvPr id="0" name=""/>
        <dsp:cNvSpPr/>
      </dsp:nvSpPr>
      <dsp:spPr>
        <a:xfrm>
          <a:off x="0" y="0"/>
          <a:ext cx="2219492" cy="49983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Described the data set</a:t>
          </a:r>
          <a:endParaRPr lang="en-IN" sz="1400" kern="1200" dirty="0"/>
        </a:p>
      </dsp:txBody>
      <dsp:txXfrm>
        <a:off x="0" y="0"/>
        <a:ext cx="2094534" cy="499834"/>
      </dsp:txXfrm>
    </dsp:sp>
    <dsp:sp modelId="{27228A52-7585-42A9-9547-15CC6A70A633}">
      <dsp:nvSpPr>
        <dsp:cNvPr id="0" name=""/>
        <dsp:cNvSpPr/>
      </dsp:nvSpPr>
      <dsp:spPr>
        <a:xfrm>
          <a:off x="1845094" y="0"/>
          <a:ext cx="2708932" cy="4998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Box plot to analyze outliers</a:t>
          </a:r>
          <a:endParaRPr lang="en-IN" sz="1400" kern="1200" dirty="0"/>
        </a:p>
      </dsp:txBody>
      <dsp:txXfrm>
        <a:off x="2095011" y="0"/>
        <a:ext cx="2209098" cy="499834"/>
      </dsp:txXfrm>
    </dsp:sp>
    <dsp:sp modelId="{8BACB4A8-18AA-47D3-A46E-C7846E6C512B}">
      <dsp:nvSpPr>
        <dsp:cNvPr id="0" name=""/>
        <dsp:cNvSpPr/>
      </dsp:nvSpPr>
      <dsp:spPr>
        <a:xfrm>
          <a:off x="4299814" y="0"/>
          <a:ext cx="2823188" cy="4998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Scatter Plot and Heat Map</a:t>
          </a:r>
          <a:endParaRPr lang="en-IN" sz="1400" kern="1200" dirty="0"/>
        </a:p>
      </dsp:txBody>
      <dsp:txXfrm>
        <a:off x="4549731" y="0"/>
        <a:ext cx="2323354" cy="499834"/>
      </dsp:txXfrm>
    </dsp:sp>
    <dsp:sp modelId="{AAEACF6D-8E95-4BFE-930F-F4D0BAA4D77D}">
      <dsp:nvSpPr>
        <dsp:cNvPr id="0" name=""/>
        <dsp:cNvSpPr/>
      </dsp:nvSpPr>
      <dsp:spPr>
        <a:xfrm>
          <a:off x="6889026" y="0"/>
          <a:ext cx="3174408" cy="4998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PCA to visualize class separability</a:t>
          </a:r>
        </a:p>
      </dsp:txBody>
      <dsp:txXfrm>
        <a:off x="7138943" y="0"/>
        <a:ext cx="2674574" cy="499834"/>
      </dsp:txXfrm>
    </dsp:sp>
    <dsp:sp modelId="{B99FDDD2-F0F6-4C42-A34D-1063A10E4440}">
      <dsp:nvSpPr>
        <dsp:cNvPr id="0" name=""/>
        <dsp:cNvSpPr/>
      </dsp:nvSpPr>
      <dsp:spPr>
        <a:xfrm>
          <a:off x="9545842" y="0"/>
          <a:ext cx="2041567" cy="4998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Interpretation</a:t>
          </a:r>
          <a:endParaRPr lang="en-IN" sz="1400" kern="1200" dirty="0"/>
        </a:p>
      </dsp:txBody>
      <dsp:txXfrm>
        <a:off x="9795759" y="0"/>
        <a:ext cx="1541733" cy="499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5B01-8C90-6E16-4A93-C163FE677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F0C57-853B-C6E5-9B82-C23B2F8A0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4FDB5-0F16-12EE-32C9-25E69360E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B9B07-26DA-EF42-8838-E01275B2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A04F2-E492-8543-56DC-AD9CA1FF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949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4198-5CA1-798B-DD0F-3EF3F23B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554F3-7575-8CA8-7347-2ADB1648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2D577-30B1-60B5-221A-57C9896C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17DD7-B6E6-FE15-6793-D76F8A92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2B141-C8F3-6322-761D-CFE3184D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53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1AB68-569C-AC8F-C01D-472A5D79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0149C-9741-CB71-B0DC-B5A24AB88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BC3D-0BD4-8643-0033-397E4341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ABA7-CA87-8A03-A171-C01235FD3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29CD-07B9-1D4E-6D8E-071868B0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8AE5-80B9-557D-C5F4-1AE0A551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D187C-07F8-3C67-AA2D-FA3F23DD3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E570B-5EEF-EE8F-D5B5-F90E7257C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3933D-3260-D8FA-8858-8C5C5024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2AF82-D468-1324-FEDC-BD893B19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D42D0-7678-15C8-0EF4-13C7F5F4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93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1EF8-ACA9-3E77-F763-A77598DDB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4BF24-7839-C0ED-1DE1-6600B1FC4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B95C1-1612-4033-823B-A50D5A4DB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41950-660F-A6C0-C654-C9F240A63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069D3-89A5-2688-DD80-614C6D01F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197DE3-3DA5-6E07-8199-D1132102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6329B-C29E-8204-AEEC-A08C33F1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257A2-232A-B528-7DA9-F23EAD46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66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799E-85F3-4842-4A90-7CB4805E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38FDF-D99A-7C52-DB97-8538FD09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B6722-6E2B-6E48-DDCF-DAAFBB81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23BC0-3B05-63AF-4CBD-C954609B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33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43369-3F2F-B506-9A99-FDB16318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C76946-4AE0-311F-6530-70DE9220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64214-B2A5-7B17-D9AB-140F5CF0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07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C6CA-DFC8-848E-FDDA-FCA3E468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7E72F-7C96-7535-8206-C0820CB08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38CB0-AFAF-6D99-D675-966ACBE6C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78CF5-61E9-D132-273E-B7240F7E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6C6BC-1EB2-E216-F971-5816E6E9B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FD43B-CF04-0084-9A3D-E5A0BFA3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58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B12F-74E4-5FF9-18DA-4B6C8AFB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92662-AAD1-C7DF-3335-A47A383E1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24370-5B92-98B1-DC30-A71CE9A4C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8066E-EFD8-2678-AE61-B13756F4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A9641-4AD2-EDBC-08FD-7E40C06E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B08F8-4DA4-1155-C787-D7197938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96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3B8A-AEC6-D0DC-CF01-C01F2CF12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3B409-E199-B31A-D197-02FDBA26A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49390-D56F-0C10-3F30-4BBB98C1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4015F-38D1-F2AA-CD81-BBE8CAAF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C7890-04CD-605C-0D8F-D7CAB27C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62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F494C-499A-C6B3-026B-49E601A62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6BCEE-F9A1-0749-8F25-89463CCCA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C58F5-0153-5D5F-F49C-1D9E8F727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2D861-653C-CF1E-6022-31253CE9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A87C-7F45-CB85-D31F-2FAE1544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489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89D495-6187-B640-4E0C-99C6B67CB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7C104-95D6-2259-37E5-56F608B21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31F3-9F0E-9A60-1F83-DFBD4F667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4E339-B427-459E-86A3-31A7BF780D0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61592-E7EC-8657-4318-2866BBD2C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342D3-5D0C-F657-44AA-C29EC4765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A5371-A363-4471-9340-09E4C8536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68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C4FB-965D-F8AA-869F-1D7E5451D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8488"/>
            <a:ext cx="9144000" cy="1889866"/>
          </a:xfrm>
        </p:spPr>
        <p:txBody>
          <a:bodyPr>
            <a:normAutofit fontScale="90000"/>
          </a:bodyPr>
          <a:lstStyle/>
          <a:p>
            <a:r>
              <a:rPr lang="en-US" dirty="0"/>
              <a:t>Breast Cancer Detection Using Support Vector Machine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1E471-2F0F-7656-8809-43616EB8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989" y="3687352"/>
            <a:ext cx="8954022" cy="1606462"/>
          </a:xfrm>
        </p:spPr>
        <p:txBody>
          <a:bodyPr/>
          <a:lstStyle/>
          <a:p>
            <a:r>
              <a:rPr lang="en-US" dirty="0"/>
              <a:t>Capstone Project</a:t>
            </a:r>
          </a:p>
          <a:p>
            <a:r>
              <a:rPr lang="en-IN" dirty="0"/>
              <a:t>Lavanya Ramaswamy, Arun Sasidharan, Sivakumar Krishnamurthy</a:t>
            </a:r>
          </a:p>
        </p:txBody>
      </p:sp>
    </p:spTree>
    <p:extLst>
      <p:ext uri="{BB962C8B-B14F-4D97-AF65-F5344CB8AC3E}">
        <p14:creationId xmlns:p14="http://schemas.microsoft.com/office/powerpoint/2010/main" val="164967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AAFCD5-888E-E53B-4A5E-5EB2A78FB21A}"/>
              </a:ext>
            </a:extLst>
          </p:cNvPr>
          <p:cNvSpPr/>
          <p:nvPr/>
        </p:nvSpPr>
        <p:spPr>
          <a:xfrm>
            <a:off x="380621" y="5313658"/>
            <a:ext cx="11572568" cy="154434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AA212-A765-9770-ACC6-B6C3FF7B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509047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2800" dirty="0"/>
              <a:t>Aim of the project, Dataset details and Project Approach</a:t>
            </a:r>
            <a:endParaRPr lang="en-IN" sz="2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103D61-519D-FE86-3D04-CDC55491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80" y="763572"/>
            <a:ext cx="7232260" cy="4295560"/>
          </a:xfrm>
          <a:solidFill>
            <a:schemeClr val="accent3">
              <a:lumMod val="20000"/>
              <a:lumOff val="80000"/>
              <a:alpha val="2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Aims &amp; Objectives of the Project</a:t>
            </a:r>
          </a:p>
          <a:p>
            <a:pPr>
              <a:buFontTx/>
              <a:buChar char="-"/>
            </a:pPr>
            <a:r>
              <a:rPr lang="en-IN" sz="2400" dirty="0"/>
              <a:t>Develop a SVM model to </a:t>
            </a:r>
            <a:r>
              <a:rPr lang="en-US" sz="2400" dirty="0"/>
              <a:t>classify mammogram FNA images as malignant or benign based on extracted features from WBDC dataset using Support Vector Machines (SVMs). </a:t>
            </a:r>
          </a:p>
          <a:p>
            <a:pPr>
              <a:buFontTx/>
              <a:buChar char="-"/>
            </a:pPr>
            <a:r>
              <a:rPr lang="en-US" sz="2400" dirty="0"/>
              <a:t>Investigate the potential of integrating ML and optimization techniques to enhance disease prediction capabilities.</a:t>
            </a:r>
          </a:p>
          <a:p>
            <a:pPr>
              <a:buFontTx/>
              <a:buChar char="-"/>
            </a:pPr>
            <a:r>
              <a:rPr lang="en-US" sz="2400" dirty="0"/>
              <a:t>This would facilitate early prediction of disease by reducing reporting time and increasing accuracy, and in turn lead to a better patient outcome.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BAC876-8DBD-DAE6-217F-D969230599C5}"/>
              </a:ext>
            </a:extLst>
          </p:cNvPr>
          <p:cNvSpPr/>
          <p:nvPr/>
        </p:nvSpPr>
        <p:spPr>
          <a:xfrm>
            <a:off x="7836311" y="763572"/>
            <a:ext cx="4116878" cy="455008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dirty="0"/>
              <a:t>Dataset Details</a:t>
            </a:r>
          </a:p>
          <a:p>
            <a:pPr algn="ctr"/>
            <a:r>
              <a:rPr lang="en-US" b="1" dirty="0"/>
              <a:t>Breast Cancer Wisconsin Diagnostic Dataset (WDBC)</a:t>
            </a:r>
          </a:p>
          <a:p>
            <a:r>
              <a:rPr lang="en-US" dirty="0"/>
              <a:t>Number of Instances : 569</a:t>
            </a:r>
          </a:p>
          <a:p>
            <a:r>
              <a:rPr lang="en-IN" dirty="0"/>
              <a:t>Class Distribution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Benign : 357</a:t>
            </a:r>
          </a:p>
          <a:p>
            <a:pPr marL="285750" indent="-285750">
              <a:buFontTx/>
              <a:buChar char="-"/>
            </a:pPr>
            <a:r>
              <a:rPr lang="en-US" dirty="0"/>
              <a:t>Malignant : 212</a:t>
            </a:r>
          </a:p>
          <a:p>
            <a:pPr marL="285750" indent="-285750">
              <a:buFontTx/>
              <a:buChar char="-"/>
            </a:pPr>
            <a:r>
              <a:rPr lang="en-US" dirty="0"/>
              <a:t>Each sample consists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Diagnosis (Malignant or Benign)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30 real-valued features </a:t>
            </a:r>
            <a:r>
              <a:rPr lang="en-US" dirty="0"/>
              <a:t>computed from a digitized image of a fine needle aspirate (FNA) of a breast mass.</a:t>
            </a:r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C08ACCF-CAFE-CC67-2EFD-158E1478E8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182214"/>
              </p:ext>
            </p:extLst>
          </p:nvPr>
        </p:nvGraphicFramePr>
        <p:xfrm>
          <a:off x="499806" y="5878386"/>
          <a:ext cx="11192388" cy="608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4C55A1F-482B-603D-9CC3-7CC7F4E55EFE}"/>
              </a:ext>
            </a:extLst>
          </p:cNvPr>
          <p:cNvSpPr txBox="1"/>
          <p:nvPr/>
        </p:nvSpPr>
        <p:spPr>
          <a:xfrm>
            <a:off x="499806" y="5313658"/>
            <a:ext cx="6218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Project Approach &amp; methods</a:t>
            </a:r>
          </a:p>
        </p:txBody>
      </p:sp>
    </p:spTree>
    <p:extLst>
      <p:ext uri="{BB962C8B-B14F-4D97-AF65-F5344CB8AC3E}">
        <p14:creationId xmlns:p14="http://schemas.microsoft.com/office/powerpoint/2010/main" val="81539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692EF-1469-8C87-F764-6F290113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E4DEC17C-4D40-58F8-0379-F507883DB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163" y="1624809"/>
            <a:ext cx="2733949" cy="259796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C14DF80-911F-285C-B0DD-146B28998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397" y="1481200"/>
            <a:ext cx="3084195" cy="28659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9DC345-D9F8-88D0-F78D-805C283D9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12" y="3293313"/>
            <a:ext cx="5465389" cy="34582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15C138-463C-9B15-1C76-A83C8F67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509047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Exploratory data analysis and Pre-processing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B8915-3FC5-3408-9659-4C69FBACAC3A}"/>
              </a:ext>
            </a:extLst>
          </p:cNvPr>
          <p:cNvSpPr txBox="1"/>
          <p:nvPr/>
        </p:nvSpPr>
        <p:spPr>
          <a:xfrm>
            <a:off x="5699341" y="4819268"/>
            <a:ext cx="926927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Strong correlation between parameters</a:t>
            </a:r>
            <a:endParaRPr lang="en-IN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1CC11B-D1C2-FA8E-1C3F-534716993A90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709786" y="5234767"/>
            <a:ext cx="989555" cy="31426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C309C2-17AC-D024-7FA1-0BC680FF1554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628384" y="3826701"/>
            <a:ext cx="4070957" cy="1408066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0EB9BC-6743-FBF7-A60A-D8500127474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584542" y="5234767"/>
            <a:ext cx="4114799" cy="415498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86B9AC-2AA5-9C6C-37DD-55205B297B8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4518425" y="3889332"/>
            <a:ext cx="1180916" cy="134543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212DB169-EAA2-C415-0C2E-393C66AF76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7266799"/>
              </p:ext>
            </p:extLst>
          </p:nvPr>
        </p:nvGraphicFramePr>
        <p:xfrm>
          <a:off x="335235" y="542600"/>
          <a:ext cx="11587454" cy="499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C70CF81-5355-1D20-7A4E-7706883A417C}"/>
              </a:ext>
            </a:extLst>
          </p:cNvPr>
          <p:cNvSpPr txBox="1"/>
          <p:nvPr/>
        </p:nvSpPr>
        <p:spPr>
          <a:xfrm>
            <a:off x="269311" y="1019535"/>
            <a:ext cx="225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missing/null values or duplicate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Slightly imbalanced to benign</a:t>
            </a:r>
            <a:endParaRPr lang="en-IN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ED18E9-2C95-CCFE-CEBA-846DCFE59F0D}"/>
              </a:ext>
            </a:extLst>
          </p:cNvPr>
          <p:cNvSpPr txBox="1"/>
          <p:nvPr/>
        </p:nvSpPr>
        <p:spPr>
          <a:xfrm>
            <a:off x="2521907" y="1019535"/>
            <a:ext cx="1996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data has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Scaling might be needed</a:t>
            </a:r>
            <a:endParaRPr lang="en-IN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197FE5-A813-9988-B436-3DD1EAA53FA6}"/>
              </a:ext>
            </a:extLst>
          </p:cNvPr>
          <p:cNvSpPr txBox="1"/>
          <p:nvPr/>
        </p:nvSpPr>
        <p:spPr>
          <a:xfrm>
            <a:off x="7221255" y="1019536"/>
            <a:ext cx="2448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Dataset is not linearly separable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083848-D8A1-8DBC-8A54-F3A562281AB6}"/>
              </a:ext>
            </a:extLst>
          </p:cNvPr>
          <p:cNvSpPr/>
          <p:nvPr/>
        </p:nvSpPr>
        <p:spPr>
          <a:xfrm>
            <a:off x="6737291" y="4457915"/>
            <a:ext cx="5068490" cy="221795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94035-C8AD-82ED-EE9E-5C80D52B954D}"/>
              </a:ext>
            </a:extLst>
          </p:cNvPr>
          <p:cNvSpPr txBox="1"/>
          <p:nvPr/>
        </p:nvSpPr>
        <p:spPr>
          <a:xfrm>
            <a:off x="7752534" y="4449936"/>
            <a:ext cx="247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Interpretation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22791-DBAE-9F91-4BDA-FD3B2CA2B611}"/>
              </a:ext>
            </a:extLst>
          </p:cNvPr>
          <p:cNvSpPr txBox="1"/>
          <p:nvPr/>
        </p:nvSpPr>
        <p:spPr>
          <a:xfrm>
            <a:off x="7012353" y="4852822"/>
            <a:ext cx="463721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/>
              <a:t>Dataset is slightly imbalanced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Malignant (M): ~37%  &amp; Benign (B): ~63%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Outliers present for which robust scaling will be done. 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Data is not linearly separable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High feature correlation observed between radius, perimeter and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983898-6BB3-AD7B-A498-A24A9D9A9D56}"/>
              </a:ext>
            </a:extLst>
          </p:cNvPr>
          <p:cNvSpPr txBox="1"/>
          <p:nvPr/>
        </p:nvSpPr>
        <p:spPr>
          <a:xfrm>
            <a:off x="4635055" y="1042874"/>
            <a:ext cx="2655090" cy="47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Shows strong positive correlation between radius, perimeter and area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D1CE723C-693A-E83E-20D1-9341945F76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537" y="1623232"/>
            <a:ext cx="5527616" cy="165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77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423A-A90B-9A80-79EB-DF0F044D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CC5B28A-037B-B036-C577-2C010DF2AF12}"/>
              </a:ext>
            </a:extLst>
          </p:cNvPr>
          <p:cNvSpPr txBox="1">
            <a:spLocks/>
          </p:cNvSpPr>
          <p:nvPr/>
        </p:nvSpPr>
        <p:spPr>
          <a:xfrm>
            <a:off x="6114460" y="4540685"/>
            <a:ext cx="5773525" cy="1922744"/>
          </a:xfrm>
          <a:prstGeom prst="rect">
            <a:avLst/>
          </a:prstGeom>
          <a:solidFill>
            <a:schemeClr val="accent6">
              <a:lumMod val="60000"/>
              <a:lumOff val="40000"/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/>
              <a:t>Time Taken and Utilization</a:t>
            </a:r>
            <a:endParaRPr lang="en-US" sz="3200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2107EFF-05D2-EAFB-6B59-FE0DF97E5E00}"/>
              </a:ext>
            </a:extLst>
          </p:cNvPr>
          <p:cNvSpPr txBox="1">
            <a:spLocks/>
          </p:cNvSpPr>
          <p:nvPr/>
        </p:nvSpPr>
        <p:spPr>
          <a:xfrm>
            <a:off x="6169067" y="2155005"/>
            <a:ext cx="5718918" cy="2285471"/>
          </a:xfrm>
          <a:prstGeom prst="rect">
            <a:avLst/>
          </a:prstGeom>
          <a:solidFill>
            <a:schemeClr val="accent6">
              <a:lumMod val="60000"/>
              <a:lumOff val="40000"/>
              <a:alpha val="2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/>
              <a:t>Model Code</a:t>
            </a:r>
            <a:endParaRPr lang="en-US" sz="32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24E7E-4CC5-A36E-1A87-284450ED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509047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Model Selection and Training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6FC8D-DBA9-71D6-898C-05BCD1D50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90" y="2994934"/>
            <a:ext cx="5963770" cy="3468495"/>
          </a:xfrm>
          <a:solidFill>
            <a:schemeClr val="accent3">
              <a:lumMod val="20000"/>
              <a:lumOff val="80000"/>
              <a:alpha val="2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Models chosen and rationale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/>
              <a:t>SVM with RBF Kernel </a:t>
            </a:r>
            <a:r>
              <a:rPr lang="en-US" sz="1800" dirty="0"/>
              <a:t>–RBF kernel used as the dataset is not linearly separable and it can model the complex interactions between the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/>
              <a:t>SciKit</a:t>
            </a:r>
            <a:r>
              <a:rPr lang="en-US" sz="1800" dirty="0"/>
              <a:t> Pipeline used to scale before training in each iteration.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/>
              <a:t>RobustScaler</a:t>
            </a:r>
            <a:r>
              <a:rPr lang="en-US" sz="1800" dirty="0"/>
              <a:t> to handle outliers.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/>
              <a:t>GridSearchCV</a:t>
            </a:r>
            <a:r>
              <a:rPr lang="en-US" sz="1800" dirty="0"/>
              <a:t> for hyperparameter tuning.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/>
              <a:t>Cv</a:t>
            </a:r>
            <a:r>
              <a:rPr lang="en-US" sz="1800" dirty="0"/>
              <a:t>=10  - 10 fold validation to prevent overfitting and </a:t>
            </a:r>
            <a:r>
              <a:rPr lang="en-IN" sz="1800" dirty="0"/>
              <a:t>enhances model robustness.</a:t>
            </a:r>
            <a:endParaRPr lang="en-US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952253-CDDA-1ADE-83B3-260560AF9B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07" t="29776" r="55464" b="65390"/>
          <a:stretch>
            <a:fillRect/>
          </a:stretch>
        </p:blipFill>
        <p:spPr>
          <a:xfrm>
            <a:off x="6317567" y="5079304"/>
            <a:ext cx="4976148" cy="77211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F5F2A9-F36D-BB3E-1911-C91D910850C5}"/>
              </a:ext>
            </a:extLst>
          </p:cNvPr>
          <p:cNvSpPr txBox="1"/>
          <p:nvPr/>
        </p:nvSpPr>
        <p:spPr>
          <a:xfrm>
            <a:off x="6216869" y="6003533"/>
            <a:ext cx="562444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1" dirty="0"/>
              <a:t>i7-12700H Processor; 2.30 GHz  clock speed; 32.0 GB RAM ; no GPU used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73656B-3F7A-2D98-AE26-42FA1FB9EA36}"/>
              </a:ext>
            </a:extLst>
          </p:cNvPr>
          <p:cNvSpPr txBox="1"/>
          <p:nvPr/>
        </p:nvSpPr>
        <p:spPr>
          <a:xfrm>
            <a:off x="5913260" y="854467"/>
            <a:ext cx="5773525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This approach was chosen as RBF works well with non-linear and high-dimensional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6BA9E-7FC3-98F7-FCE9-79650B85A691}"/>
              </a:ext>
            </a:extLst>
          </p:cNvPr>
          <p:cNvSpPr txBox="1"/>
          <p:nvPr/>
        </p:nvSpPr>
        <p:spPr>
          <a:xfrm>
            <a:off x="150690" y="1275742"/>
            <a:ext cx="54851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loaded into Pandas </a:t>
            </a:r>
            <a:r>
              <a:rPr lang="en-US" dirty="0" err="1"/>
              <a:t>dataframe</a:t>
            </a:r>
            <a:r>
              <a:rPr lang="en-US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cleaning 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 variable is encoded(1 = Malignant, 0 = Benign)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separated into features and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split into Train and Test set (80:20)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7445A-B3A2-6BDD-FD6F-18DF0F91DA77}"/>
              </a:ext>
            </a:extLst>
          </p:cNvPr>
          <p:cNvSpPr txBox="1"/>
          <p:nvPr/>
        </p:nvSpPr>
        <p:spPr>
          <a:xfrm>
            <a:off x="150690" y="746745"/>
            <a:ext cx="4158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Pre-Processing</a:t>
            </a:r>
            <a:endParaRPr lang="en-IN" sz="2800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B6D1B7-82A3-19E6-54C4-C768E0123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566" y="2612684"/>
            <a:ext cx="5274489" cy="12346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F41C02-905B-7CBD-52CF-D8780E07C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567" y="4002302"/>
            <a:ext cx="5274489" cy="2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59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62D9-8147-6E8E-2EDE-6994265F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CA8427-60E6-3A04-FF56-0515AF144B67}"/>
              </a:ext>
            </a:extLst>
          </p:cNvPr>
          <p:cNvSpPr/>
          <p:nvPr/>
        </p:nvSpPr>
        <p:spPr>
          <a:xfrm>
            <a:off x="123764" y="3342297"/>
            <a:ext cx="5083964" cy="3307252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4F4F1A-84B2-1EE9-F9FE-8B900EF0AFA4}"/>
              </a:ext>
            </a:extLst>
          </p:cNvPr>
          <p:cNvSpPr/>
          <p:nvPr/>
        </p:nvSpPr>
        <p:spPr>
          <a:xfrm>
            <a:off x="5649238" y="670519"/>
            <a:ext cx="5830866" cy="3225076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6BE9F-173D-4D3C-BB70-BF2345CA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509047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Model Evaluation &amp; Results</a:t>
            </a:r>
            <a:endParaRPr lang="en-IN" sz="28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05DFBE8-9BE4-F06E-A1EA-0071A518D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062" y="764788"/>
            <a:ext cx="4175363" cy="50904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u="sng" dirty="0"/>
              <a:t>Results</a:t>
            </a:r>
            <a:endParaRPr lang="en-US" sz="1800" b="1" u="sng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A5E290-145E-7A6A-15D7-8DBE276921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41" t="37956" r="46340" b="7611"/>
          <a:stretch>
            <a:fillRect/>
          </a:stretch>
        </p:blipFill>
        <p:spPr>
          <a:xfrm>
            <a:off x="778481" y="3798332"/>
            <a:ext cx="3424001" cy="259751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6375B92-FCCA-AE5D-854B-461C6EA9623F}"/>
              </a:ext>
            </a:extLst>
          </p:cNvPr>
          <p:cNvSpPr txBox="1"/>
          <p:nvPr/>
        </p:nvSpPr>
        <p:spPr>
          <a:xfrm>
            <a:off x="926021" y="3429000"/>
            <a:ext cx="2922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ROC Curve for SVM Classifier</a:t>
            </a:r>
            <a:endParaRPr lang="en-IN" b="1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4805634-43A4-5AD8-54CD-A05091AE5D55}"/>
              </a:ext>
            </a:extLst>
          </p:cNvPr>
          <p:cNvSpPr txBox="1">
            <a:spLocks/>
          </p:cNvSpPr>
          <p:nvPr/>
        </p:nvSpPr>
        <p:spPr>
          <a:xfrm>
            <a:off x="6095999" y="4100669"/>
            <a:ext cx="5317520" cy="2548880"/>
          </a:xfrm>
          <a:prstGeom prst="rect">
            <a:avLst/>
          </a:prstGeom>
          <a:solidFill>
            <a:schemeClr val="accent3">
              <a:lumMod val="20000"/>
              <a:lumOff val="80000"/>
              <a:alpha val="6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2013F0E-4262-ADA8-AE89-7D5151AEF086}"/>
              </a:ext>
            </a:extLst>
          </p:cNvPr>
          <p:cNvSpPr txBox="1">
            <a:spLocks/>
          </p:cNvSpPr>
          <p:nvPr/>
        </p:nvSpPr>
        <p:spPr>
          <a:xfrm>
            <a:off x="9641902" y="1260089"/>
            <a:ext cx="2054269" cy="88308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Only 2 False negatives out of 114 cases</a:t>
            </a:r>
          </a:p>
          <a:p>
            <a:endParaRPr lang="en-US" sz="1600" dirty="0"/>
          </a:p>
          <a:p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D7F93C-E666-CDFF-3525-0CAE17EF5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15" y="1273836"/>
            <a:ext cx="3754478" cy="1277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8A58E-1861-8E46-A650-F0A15D71D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412" y="883085"/>
            <a:ext cx="3466490" cy="2761441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4AB99C-ACDD-B3B6-8267-A3C712838861}"/>
              </a:ext>
            </a:extLst>
          </p:cNvPr>
          <p:cNvSpPr txBox="1"/>
          <p:nvPr/>
        </p:nvSpPr>
        <p:spPr>
          <a:xfrm>
            <a:off x="7961978" y="1129177"/>
            <a:ext cx="995819" cy="261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False Positive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18400-F4F1-65C2-C6A1-7540D61BE862}"/>
              </a:ext>
            </a:extLst>
          </p:cNvPr>
          <p:cNvSpPr txBox="1"/>
          <p:nvPr/>
        </p:nvSpPr>
        <p:spPr>
          <a:xfrm>
            <a:off x="6544941" y="2390288"/>
            <a:ext cx="995819" cy="261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False Negative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D7C07-2059-202C-6345-AC2A16A4DCE7}"/>
              </a:ext>
            </a:extLst>
          </p:cNvPr>
          <p:cNvSpPr txBox="1"/>
          <p:nvPr/>
        </p:nvSpPr>
        <p:spPr>
          <a:xfrm>
            <a:off x="6570786" y="1129176"/>
            <a:ext cx="995819" cy="261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True Negative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9B9DA-7AC2-C144-6FE0-4F1DFAC2AA3C}"/>
              </a:ext>
            </a:extLst>
          </p:cNvPr>
          <p:cNvSpPr txBox="1"/>
          <p:nvPr/>
        </p:nvSpPr>
        <p:spPr>
          <a:xfrm>
            <a:off x="7961978" y="2346477"/>
            <a:ext cx="995819" cy="261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True Positive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A04AA2-1C74-178D-9114-78552706C8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37" r="2755"/>
          <a:stretch>
            <a:fillRect/>
          </a:stretch>
        </p:blipFill>
        <p:spPr>
          <a:xfrm>
            <a:off x="143816" y="2486740"/>
            <a:ext cx="5083965" cy="3828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C8A13E-5048-1FDD-04F9-FDD25F4D1D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52"/>
          <a:stretch>
            <a:fillRect/>
          </a:stretch>
        </p:blipFill>
        <p:spPr>
          <a:xfrm>
            <a:off x="7750177" y="4255242"/>
            <a:ext cx="2918859" cy="22207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1EC8544-78F1-A347-33BD-C0FFDA01B9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282" y="4255242"/>
            <a:ext cx="881895" cy="223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323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948C-9E24-E073-F6FB-EE4F6EF0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07867-139A-A859-AC08-8994A3A1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509047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dirty="0"/>
              <a:t>Inferences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B929-AD6F-EFDD-BE0C-EC44751FF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79" y="854970"/>
            <a:ext cx="11247170" cy="5405153"/>
          </a:xfrm>
          <a:solidFill>
            <a:schemeClr val="accent3">
              <a:lumMod val="20000"/>
              <a:lumOff val="80000"/>
              <a:alpha val="2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Inferences:</a:t>
            </a:r>
          </a:p>
          <a:p>
            <a:r>
              <a:rPr lang="en-US" sz="1800" dirty="0"/>
              <a:t>SVM with </a:t>
            </a:r>
            <a:r>
              <a:rPr lang="en-US" sz="1800" dirty="0" err="1"/>
              <a:t>rbf</a:t>
            </a:r>
            <a:r>
              <a:rPr lang="en-US" sz="1800" dirty="0"/>
              <a:t> kernel performed well with 98.24 % accuracy.</a:t>
            </a:r>
          </a:p>
          <a:p>
            <a:r>
              <a:rPr lang="en-US" sz="1800" dirty="0"/>
              <a:t>Typical accuracy of clinician is ~95% and the model here gave a higher accuracy.</a:t>
            </a:r>
          </a:p>
          <a:p>
            <a:r>
              <a:rPr lang="en-US" sz="1800" dirty="0"/>
              <a:t>Typical clinician/pathologist requires 1-2 days to report FNAC but the model required &lt;1 second (~12ms) to predict values.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EAD19F5-1123-424B-A2F2-EBBE80AEC42C}"/>
              </a:ext>
            </a:extLst>
          </p:cNvPr>
          <p:cNvSpPr txBox="1">
            <a:spLocks/>
          </p:cNvSpPr>
          <p:nvPr/>
        </p:nvSpPr>
        <p:spPr>
          <a:xfrm>
            <a:off x="338579" y="2862197"/>
            <a:ext cx="10772007" cy="3743849"/>
          </a:xfrm>
          <a:prstGeom prst="rect">
            <a:avLst/>
          </a:prstGeom>
          <a:solidFill>
            <a:schemeClr val="accent3">
              <a:lumMod val="20000"/>
              <a:lumOff val="80000"/>
              <a:alpha val="6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Other approaches tried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6B5A5-654F-B40D-73A2-36C1DEC8D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817" y="3429000"/>
            <a:ext cx="7826492" cy="277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13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3943-4CB9-C018-A745-35B20D68B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2675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Thank You !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2731129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4972</TotalTime>
  <Words>509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Breast Cancer Detection Using Support Vector Machine </vt:lpstr>
      <vt:lpstr>Aim of the project, Dataset details and Project Approach</vt:lpstr>
      <vt:lpstr>Exploratory data analysis and Pre-processing</vt:lpstr>
      <vt:lpstr>Model Selection and Training</vt:lpstr>
      <vt:lpstr>Model Evaluation &amp; Results</vt:lpstr>
      <vt:lpstr>Inferences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Sivakumar Krishnamurthy</dc:creator>
  <cp:lastModifiedBy>lavanya ramaswamy</cp:lastModifiedBy>
  <cp:revision>26</cp:revision>
  <dcterms:created xsi:type="dcterms:W3CDTF">2025-09-07T04:48:23Z</dcterms:created>
  <dcterms:modified xsi:type="dcterms:W3CDTF">2025-09-12T16:08:33Z</dcterms:modified>
</cp:coreProperties>
</file>